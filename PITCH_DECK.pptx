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23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656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FF"/>
                </a:solidFill>
              </a:defRPr>
            </a:pPr>
            <a:r>
              <a:t>UTKRISHTA 2026 | SSG × RESEARCH CLUB, IIIT SRI CITY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2600" b="1">
                <a:solidFill>
                  <a:srgbClr val="FFFFFF"/>
                </a:solidFill>
              </a:defRPr>
            </a:pPr>
            <a:r>
              <a:t>LFM Radar Pulse Compression &amp; +10 dB SNR Boost for Long-Range Space Target Tracking</a:t>
            </a:r>
          </a:p>
          <a:p>
            <a:pPr>
              <a:spcAft>
                <a:spcPts val="2400"/>
              </a:spcAft>
              <a:defRPr sz="1400">
                <a:solidFill>
                  <a:srgbClr val="FFC107"/>
                </a:solidFill>
              </a:defRPr>
            </a:pPr>
            <a:r>
              <a:t>Solving the Radar Energy-Resolution Dilemma at 200 km Range with Linear Frequency Modulation</a:t>
            </a:r>
          </a:p>
          <a:p>
            <a:pPr>
              <a:defRPr sz="1200">
                <a:solidFill>
                  <a:srgbClr val="B4C3D7"/>
                </a:solidFill>
              </a:defRPr>
            </a:pPr>
            <a:r>
              <a:t>TRACK 1: Radar Signal Processing — Target Detection, Pulse Compression &amp; SNR Enhancement</a:t>
            </a:r>
            <a:br/>
            <a:r>
              <a:t>Curated by: Mr. Rajendra Kumar, Scientist, Radar Division, SDSC SHAR</a:t>
            </a:r>
            <a:br/>
            <a:br/>
            <a:r>
              <a:t>Team: Spaceship</a:t>
            </a:r>
            <a:br/>
            <a:r>
              <a:t>Members: Manas Vinod Jain, Vikhyat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TRACK 1: RADAR SIGNAL PROCESSING | SDSC SHAR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Overview &amp; Space-Tracking System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1C34"/>
          </a:solidFill>
          <a:ln>
            <a:solidFill>
              <a:srgbClr val="23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The Long-Range Radar Dilemma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Mission Requirement: Detect distant, small RCS space objects (R = 200 km, RCS = 1.0 m²) at SDSC SHAR.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Classical CW Pulse Conflict: Higher detection range requires high pulse energy Et = Pt · tau. But simple pulses tie range resolution directly to pulse duration: dR = c · tau / 2.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Catastrophic Resolution Loss: A 100 μs unmodulated pulse yields dR = 15 km (unusable for precision tracking).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The LFM Solution: Linearly chirp the frequency across bandwidth B = 4 MHz. Resolution becomes dR = c / (2B) = 37.5 m, independent of pulse duration!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1C34"/>
          </a:solidFill>
          <a:ln>
            <a:solidFill>
              <a:srgbClr val="23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C107"/>
                </a:solidFill>
              </a:defRPr>
            </a:pPr>
            <a:r>
              <a:t>Assumed S-band Radar Link Specifications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Carrier Frequency (fc): 3.0 GHz (S-Band, λ = 0.1 m)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Pulse Repetition Time (PRT): 2.0 ms (PRF = 500 Hz, Runamb = 300 km)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Chirp Sweep Bandwidth (B): 4.0 MHz (Nominal dR = 37.5 m)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Pulse Widths Compared: 10 μs (TB = 40) vs 100 μs (TB = 400)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Transmit Peak Power (Pt): 250 kW (53.98 dBW)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Antenna Gain (Tx &amp; Rx): 40.0 dBi each (Beamwidth ~ 1.8°)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Target Range &amp; RCS: R = 200.0 km, RCS = 1.0 m² (0 dBsm)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Received Power (Pr): 3.95 × 10⁻¹⁴ W (-134.04 dBW)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Noise Figure &amp; Losses: F = 2.5 dB, System Loss L = 3.0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TRACK 1: RADAR SIGNAL PROCESSING | SDSC SHAR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Simulation Methodology &amp; Mathematical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28600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C107"/>
                </a:solidFill>
              </a:defRPr>
            </a:pPr>
            <a:r>
              <a:t>Step 1: Signal Synthesis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PRT = 2 ms, B = 4 MHz, fs = 16 MHz. Dual LFM up-chirps: s(t) = rect(t/tau) exp(j π kr t²). Slope kr1 = 4e11 Hz/s vs kr2 = 4e10 Hz/s.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228600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55448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C107"/>
                </a:solidFill>
              </a:defRPr>
            </a:pPr>
            <a:r>
              <a:t>Step 2: Channel &amp; Propagation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Radar Range Equation at R = 200 km (delay 1.333 ms). Circular complex AWGN with discrete-time variance Pn = N0 · 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228600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C107"/>
                </a:solidFill>
              </a:defRPr>
            </a:pPr>
            <a:r>
              <a:t>Step 3: Matched Filter (MF)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Zero-padded FFT linear cross-correlation: y(t) = ifft(fft(rx) · conj(fft(ref))). Trims circular convolution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60320" cy="228600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55448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C107"/>
                </a:solidFill>
              </a:defRPr>
            </a:pPr>
            <a:r>
              <a:t>Step 4: Detection &amp; CA-CFAR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1-D Cell-Averaging CFAR (Nref=48, Nguard=16, Pfa=1e-6). Link margin verification against Swerling 0 Marcum Q model.</a:t>
            </a:r>
          </a:p>
        </p:txBody>
      </p:sp>
      <p:pic>
        <p:nvPicPr>
          <p:cNvPr id="13" name="Picture 12" descr="fig2_lfm_waveforms_and_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931920"/>
            <a:ext cx="8869680" cy="50683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TRACK 1: RADAR SIGNAL PROCESSING | SDSC SHAR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Quantitative Verification &amp; Experimental Plots</a:t>
            </a:r>
          </a:p>
        </p:txBody>
      </p:sp>
      <p:pic>
        <p:nvPicPr>
          <p:cNvPr id="5" name="Picture 4" descr="fig4_pulse_compression_snr_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92488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463040"/>
          <a:ext cx="49377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  <a:gridCol w="1097280"/>
              </a:tblGrid>
              <a:tr h="47548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D4FF"/>
                          </a:solidFill>
                        </a:defRPr>
                      </a:pPr>
                      <a:r>
                        <a:t>Parameter / Metric</a:t>
                      </a:r>
                    </a:p>
                  </a:txBody>
                  <a:tcPr>
                    <a:solidFill>
                      <a:srgbClr val="19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D4FF"/>
                          </a:solidFill>
                        </a:defRPr>
                      </a:pPr>
                      <a:r>
                        <a:t>Pulse 1 (10 μs)</a:t>
                      </a:r>
                    </a:p>
                  </a:txBody>
                  <a:tcPr>
                    <a:solidFill>
                      <a:srgbClr val="19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D4FF"/>
                          </a:solidFill>
                        </a:defRPr>
                      </a:pPr>
                      <a:r>
                        <a:t>Pulse 2 (100 μs)</a:t>
                      </a:r>
                    </a:p>
                  </a:txBody>
                  <a:tcPr>
                    <a:solidFill>
                      <a:srgbClr val="19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D4FF"/>
                          </a:solidFill>
                        </a:defRPr>
                      </a:pPr>
                      <a:r>
                        <a:t>Gain / Ratio</a:t>
                      </a:r>
                    </a:p>
                  </a:txBody>
                  <a:tcPr>
                    <a:solidFill>
                      <a:srgbClr val="192D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Time-Bandwidth (TB)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40 (16.0 dB)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400 (26.0 dB)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C107"/>
                          </a:solidFill>
                        </a:defRPr>
                      </a:pPr>
                      <a:r>
                        <a:t>+10.0 dB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Radiated Energy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2.50 J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25.00 J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C107"/>
                          </a:solidFill>
                        </a:defRPr>
                      </a:pPr>
                      <a:r>
                        <a:t>+10.0 dB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Theoretical MF SNR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17.44 dB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27.44 dB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C107"/>
                          </a:solidFill>
                        </a:defRPr>
                      </a:pPr>
                      <a:r>
                        <a:t>+10.00 dB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Simulated Peak SNR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17.13 dB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27.31 dB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C107"/>
                          </a:solidFill>
                        </a:defRPr>
                      </a:pPr>
                      <a:r>
                        <a:t>+10.18 dB (Valid!)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Nominal Resolution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37.50 m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37.50 m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C107"/>
                          </a:solidFill>
                        </a:defRPr>
                      </a:pPr>
                      <a:r>
                        <a:t>1.00x (Identical)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Measured -3dB Width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35.36 m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34.17 m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C107"/>
                          </a:solidFill>
                        </a:defRPr>
                      </a:pPr>
                      <a:r>
                        <a:t>Similar widths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Required SNR (Pd=0.9)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13.18 dB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13.18 dB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C107"/>
                          </a:solidFill>
                        </a:defRPr>
                      </a:pPr>
                      <a:r>
                        <a:t>Marcum Q baseline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Link Margin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+4.25 dB (Marginal)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+14.25 dB (Robust)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C107"/>
                          </a:solidFill>
                        </a:defRPr>
                      </a:pPr>
                      <a:r>
                        <a:t>+10.00 dB Boost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CA-CFAR Margin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+4.14 dB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</a:defRPr>
                      </a:pPr>
                      <a:r>
                        <a:t>+10.08 dB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C107"/>
                          </a:solidFill>
                        </a:defRPr>
                      </a:pPr>
                      <a:r>
                        <a:t>+5.93 dB Boost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TRACK 1: RADAR SIGNAL PROCESSING | SDSC SHAR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Insights, Bonus Experiments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1C34"/>
          </a:solidFill>
          <a:ln>
            <a:solidFill>
              <a:srgbClr val="23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Operational Insights &amp; Bonus Experiments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Core Proof Verified: Matched-filter SNR increases by +10.18 dB (theory: +10.00 dB) while range resolution remains invariant at ~35 m for both 10 μs and 100 μs chirps.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Validation: 200 production trials give mean 9.99 dB; 95% mean CI [9.88, 10.10] dB. Assumed link parameters; correlated MF cells limit nominal CFAR Pfa calibration.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Bonus Exp 1 (Multi-Target at 200 km): The 50 m pair yields one local peak in this coherent unequal-target realization. Nominal c/(2B) resolution alone does not guarantee separation; phase, contrast and noise matter.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Bonus Exp 2 (Mach 5 Doppler Coupling): A 1500 m/s rocket induces -112.5 m range bias. We implemented Chirp Diversity (Up/Down chirp pairs), canceling the bias to -3 m and extracting exact velocity (1500 m/s)!</a:t>
            </a:r>
          </a:p>
        </p:txBody>
      </p:sp>
      <p:pic>
        <p:nvPicPr>
          <p:cNvPr id="7" name="Picture 6" descr="fig6_multitarget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2074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
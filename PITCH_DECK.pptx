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2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97280" y="914400"/>
            <a:ext cx="9997135" cy="5029200"/>
          </a:xfrm>
          <a:prstGeom prst="roundRect">
            <a:avLst/>
          </a:prstGeom>
          <a:solidFill>
            <a:srgbClr val="121C34"/>
          </a:solidFill>
          <a:ln w="19050">
            <a:solidFill>
              <a:srgbClr val="2337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463040" y="1280160"/>
            <a:ext cx="9265615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D4FF"/>
                </a:solidFill>
              </a:defRPr>
            </a:pPr>
            <a:r>
              <a:t>UTKRISHTA 2026 | SSG × RESEARCH CLUB, IIIT SRI CITY</a:t>
            </a:r>
          </a:p>
          <a:p>
            <a:pPr>
              <a:spcBef>
                <a:spcPts val="1400"/>
              </a:spcBef>
              <a:spcAft>
                <a:spcPts val="1000"/>
              </a:spcAft>
              <a:defRPr sz="2600" b="1">
                <a:solidFill>
                  <a:srgbClr val="FFFFFF"/>
                </a:solidFill>
              </a:defRPr>
            </a:pPr>
            <a:r>
              <a:t>LFM Radar Pulse Compression &amp; +10 dB SNR Boost for Long-Range Space Target Tracking</a:t>
            </a:r>
          </a:p>
          <a:p>
            <a:pPr>
              <a:spcAft>
                <a:spcPts val="2400"/>
              </a:spcAft>
              <a:defRPr sz="1400">
                <a:solidFill>
                  <a:srgbClr val="FFC107"/>
                </a:solidFill>
              </a:defRPr>
            </a:pPr>
            <a:r>
              <a:t>Solving the Radar Energy-Resolution Dilemma at 200 km Range with Linear Frequency Modulation</a:t>
            </a:r>
          </a:p>
          <a:p>
            <a:pPr>
              <a:defRPr sz="1200">
                <a:solidFill>
                  <a:srgbClr val="B4C3D7"/>
                </a:solidFill>
              </a:defRPr>
            </a:pPr>
            <a:r>
              <a:t>TRACK 1: Radar Signal Processing — Target Detection, Pulse Compression &amp; SNR Enhancement</a:t>
            </a:r>
            <a:br/>
            <a:r>
              <a:t>Curated by: Mr. Rajendra Kumar, Scientist, Radar Division, SDSC SHAR</a:t>
            </a:r>
            <a:br/>
            <a:br/>
            <a:r>
              <a:t>Team: Team Beyond Signals</a:t>
            </a:r>
            <a:br/>
            <a:r>
              <a:t>Members: Manas Vinod Jain, Vikhyat Gupta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2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0D4FF"/>
                </a:solidFill>
              </a:defRPr>
            </a:pPr>
            <a:r>
              <a:t>TRACK 1: RADAR SIGNAL PROCESSING | SDSC SHAR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Problem Overview &amp; Space-Tracking System Setup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5120640" cy="4754880"/>
          </a:xfrm>
          <a:prstGeom prst="roundRect">
            <a:avLst/>
          </a:prstGeom>
          <a:solidFill>
            <a:srgbClr val="121C34"/>
          </a:solidFill>
          <a:ln>
            <a:solidFill>
              <a:srgbClr val="2337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645920"/>
            <a:ext cx="47548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0D4FF"/>
                </a:solidFill>
              </a:defRPr>
            </a:pPr>
            <a:r>
              <a:t>The Long-Range Radar Dilemma</a:t>
            </a:r>
          </a:p>
          <a:p>
            <a:pPr>
              <a:spcBef>
                <a:spcPts val="800"/>
              </a:spcBef>
              <a:defRPr sz="1100">
                <a:solidFill>
                  <a:srgbClr val="FFFFFF"/>
                </a:solidFill>
              </a:defRPr>
            </a:pPr>
            <a:r>
              <a:t>• Mission Requirement: Detect distant, small RCS space objects (R = 200 km, RCS = 1.0 m²) at SDSC SHAR.</a:t>
            </a:r>
          </a:p>
          <a:p>
            <a:pPr>
              <a:spcBef>
                <a:spcPts val="800"/>
              </a:spcBef>
              <a:defRPr sz="1100">
                <a:solidFill>
                  <a:srgbClr val="FFFFFF"/>
                </a:solidFill>
              </a:defRPr>
            </a:pPr>
            <a:r>
              <a:t>• Classical CW Pulse Conflict: Higher detection range requires high pulse energy Et = Pt · tau. But simple pulses tie range resolution directly to pulse duration: dR = c · tau / 2.</a:t>
            </a:r>
          </a:p>
          <a:p>
            <a:pPr>
              <a:spcBef>
                <a:spcPts val="800"/>
              </a:spcBef>
              <a:defRPr sz="1100">
                <a:solidFill>
                  <a:srgbClr val="FFFFFF"/>
                </a:solidFill>
              </a:defRPr>
            </a:pPr>
            <a:r>
              <a:t>• Catastrophic Resolution Loss: A 100 μs unmodulated pulse yields dR = 15 km (unusable for precision tracking).</a:t>
            </a:r>
          </a:p>
          <a:p>
            <a:pPr>
              <a:spcBef>
                <a:spcPts val="800"/>
              </a:spcBef>
              <a:defRPr sz="1100">
                <a:solidFill>
                  <a:srgbClr val="FFFFFF"/>
                </a:solidFill>
              </a:defRPr>
            </a:pPr>
            <a:r>
              <a:t>• The LFM Solution: Linearly chirp the frequency across bandwidth B = 4 MHz. Resolution becomes dR = c / (2B) = 37.5 m, independent of pulse duration!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463040"/>
            <a:ext cx="5212080" cy="4754880"/>
          </a:xfrm>
          <a:prstGeom prst="roundRect">
            <a:avLst/>
          </a:prstGeom>
          <a:solidFill>
            <a:srgbClr val="121C34"/>
          </a:solidFill>
          <a:ln>
            <a:solidFill>
              <a:srgbClr val="2337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645920"/>
            <a:ext cx="48463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FC107"/>
                </a:solidFill>
              </a:defRPr>
            </a:pPr>
            <a:r>
              <a:t>SDSC SHAR Radar Link Specifications</a:t>
            </a:r>
          </a:p>
          <a:p>
            <a:pPr>
              <a:spcBef>
                <a:spcPts val="400"/>
              </a:spcBef>
              <a:defRPr sz="1050">
                <a:solidFill>
                  <a:srgbClr val="FFFFFF"/>
                </a:solidFill>
              </a:defRPr>
            </a:pPr>
            <a:r>
              <a:t>• Carrier Frequency (fc): 3.0 GHz (S-Band, λ = 0.1 m)</a:t>
            </a:r>
          </a:p>
          <a:p>
            <a:pPr>
              <a:spcBef>
                <a:spcPts val="400"/>
              </a:spcBef>
              <a:defRPr sz="1050">
                <a:solidFill>
                  <a:srgbClr val="FFFFFF"/>
                </a:solidFill>
              </a:defRPr>
            </a:pPr>
            <a:r>
              <a:t>• Pulse Repetition Time (PRT): 2.0 ms (PRF = 500 Hz, Runamb = 300 km)</a:t>
            </a:r>
          </a:p>
          <a:p>
            <a:pPr>
              <a:spcBef>
                <a:spcPts val="400"/>
              </a:spcBef>
              <a:defRPr sz="1050">
                <a:solidFill>
                  <a:srgbClr val="FFFFFF"/>
                </a:solidFill>
              </a:defRPr>
            </a:pPr>
            <a:r>
              <a:t>• Chirp Sweep Bandwidth (B): 4.0 MHz (Nominal dR = 37.5 m)</a:t>
            </a:r>
          </a:p>
          <a:p>
            <a:pPr>
              <a:spcBef>
                <a:spcPts val="400"/>
              </a:spcBef>
              <a:defRPr sz="1050">
                <a:solidFill>
                  <a:srgbClr val="FFFFFF"/>
                </a:solidFill>
              </a:defRPr>
            </a:pPr>
            <a:r>
              <a:t>• Pulse Widths Compared: 10 μs (TB = 40) vs 100 μs (TB = 400)</a:t>
            </a:r>
          </a:p>
          <a:p>
            <a:pPr>
              <a:spcBef>
                <a:spcPts val="400"/>
              </a:spcBef>
              <a:defRPr sz="1050">
                <a:solidFill>
                  <a:srgbClr val="FFFFFF"/>
                </a:solidFill>
              </a:defRPr>
            </a:pPr>
            <a:r>
              <a:t>• Transmit Peak Power (Pt): 250 kW (53.98 dBW)</a:t>
            </a:r>
          </a:p>
          <a:p>
            <a:pPr>
              <a:spcBef>
                <a:spcPts val="400"/>
              </a:spcBef>
              <a:defRPr sz="1050">
                <a:solidFill>
                  <a:srgbClr val="FFFFFF"/>
                </a:solidFill>
              </a:defRPr>
            </a:pPr>
            <a:r>
              <a:t>• Antenna Gain (Tx &amp; Rx): 40.0 dBi each (Beamwidth ~ 1.8°)</a:t>
            </a:r>
          </a:p>
          <a:p>
            <a:pPr>
              <a:spcBef>
                <a:spcPts val="400"/>
              </a:spcBef>
              <a:defRPr sz="1050">
                <a:solidFill>
                  <a:srgbClr val="FFFFFF"/>
                </a:solidFill>
              </a:defRPr>
            </a:pPr>
            <a:r>
              <a:t>• Target Range &amp; RCS: R = 200.0 km, RCS = 1.0 m² (0 dBsm)</a:t>
            </a:r>
          </a:p>
          <a:p>
            <a:pPr>
              <a:spcBef>
                <a:spcPts val="400"/>
              </a:spcBef>
              <a:defRPr sz="1050">
                <a:solidFill>
                  <a:srgbClr val="FFFFFF"/>
                </a:solidFill>
              </a:defRPr>
            </a:pPr>
            <a:r>
              <a:t>• Received Power (Pr): 3.95 × 10⁻¹⁴ W (-134.04 dBW)</a:t>
            </a:r>
          </a:p>
          <a:p>
            <a:pPr>
              <a:spcBef>
                <a:spcPts val="400"/>
              </a:spcBef>
              <a:defRPr sz="1050">
                <a:solidFill>
                  <a:srgbClr val="FFFFFF"/>
                </a:solidFill>
              </a:defRPr>
            </a:pPr>
            <a:r>
              <a:t>• Noise Figure &amp; Losses: F = 2.5 dB, System Loss L = 3.0 dB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2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0D4FF"/>
                </a:solidFill>
              </a:defRPr>
            </a:pPr>
            <a:r>
              <a:t>TRACK 1: RADAR SIGNAL PROCESSING | SDSC SHAR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Simulation Methodology &amp; Mathematical Pipeline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2560320" cy="2286000"/>
          </a:xfrm>
          <a:prstGeom prst="roundRect">
            <a:avLst/>
          </a:prstGeom>
          <a:solidFill>
            <a:srgbClr val="121C34"/>
          </a:solidFill>
          <a:ln w="1270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554480"/>
            <a:ext cx="237744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FFC107"/>
                </a:solidFill>
              </a:defRPr>
            </a:pPr>
            <a:r>
              <a:t>Step 1: Signal Synthesis</a:t>
            </a:r>
          </a:p>
          <a:p>
            <a:pPr>
              <a:spcBef>
                <a:spcPts val="600"/>
              </a:spcBef>
              <a:defRPr sz="950">
                <a:solidFill>
                  <a:srgbClr val="FFFFFF"/>
                </a:solidFill>
              </a:defRPr>
            </a:pPr>
            <a:r>
              <a:t>PRT = 2 ms, B = 4 MHz, fs = 16 MHz. Dual LFM up-chirps: s(t) = rect(t/tau) exp(j π kr t²). Slope kr1 = 4e11 Hz/s vs kr2 = 4e10 Hz/s.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29000" y="1463040"/>
            <a:ext cx="2560320" cy="2286000"/>
          </a:xfrm>
          <a:prstGeom prst="roundRect">
            <a:avLst/>
          </a:prstGeom>
          <a:solidFill>
            <a:srgbClr val="121C34"/>
          </a:solidFill>
          <a:ln w="1270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520440" y="1554480"/>
            <a:ext cx="237744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FFC107"/>
                </a:solidFill>
              </a:defRPr>
            </a:pPr>
            <a:r>
              <a:t>Step 2: Channel &amp; Propagation</a:t>
            </a:r>
          </a:p>
          <a:p>
            <a:pPr>
              <a:spcBef>
                <a:spcPts val="600"/>
              </a:spcBef>
              <a:defRPr sz="950">
                <a:solidFill>
                  <a:srgbClr val="FFFFFF"/>
                </a:solidFill>
              </a:defRPr>
            </a:pPr>
            <a:r>
              <a:t>Radar Range Equation at R = 200 km (delay 1.333 ms). Circular complex AWGN with discrete-time variance Pn = N0 · fs.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6480" y="1463040"/>
            <a:ext cx="2560320" cy="2286000"/>
          </a:xfrm>
          <a:prstGeom prst="roundRect">
            <a:avLst/>
          </a:prstGeom>
          <a:solidFill>
            <a:srgbClr val="121C34"/>
          </a:solidFill>
          <a:ln w="1270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0" y="1554480"/>
            <a:ext cx="237744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FFC107"/>
                </a:solidFill>
              </a:defRPr>
            </a:pPr>
            <a:r>
              <a:t>Step 3: Matched Filter (MF)</a:t>
            </a:r>
          </a:p>
          <a:p>
            <a:pPr>
              <a:spcBef>
                <a:spcPts val="600"/>
              </a:spcBef>
              <a:defRPr sz="950">
                <a:solidFill>
                  <a:srgbClr val="FFFFFF"/>
                </a:solidFill>
              </a:defRPr>
            </a:pPr>
            <a:r>
              <a:t>Zero-padded FFT linear cross-correlation: y(t) = ifft(fft(rx) · conj(fft(ref))). Trims circular convolution artifacts.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823960" y="1463040"/>
            <a:ext cx="2560320" cy="2286000"/>
          </a:xfrm>
          <a:prstGeom prst="roundRect">
            <a:avLst/>
          </a:prstGeom>
          <a:solidFill>
            <a:srgbClr val="121C34"/>
          </a:solidFill>
          <a:ln w="1270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15400" y="1554480"/>
            <a:ext cx="237744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FFC107"/>
                </a:solidFill>
              </a:defRPr>
            </a:pPr>
            <a:r>
              <a:t>Step 4: Detection &amp; CA-CFAR</a:t>
            </a:r>
          </a:p>
          <a:p>
            <a:pPr>
              <a:spcBef>
                <a:spcPts val="600"/>
              </a:spcBef>
              <a:defRPr sz="950">
                <a:solidFill>
                  <a:srgbClr val="FFFFFF"/>
                </a:solidFill>
              </a:defRPr>
            </a:pPr>
            <a:r>
              <a:t>1-D Cell-Averaging CFAR (Nref=48, Nguard=16, Pfa=1e-6). Link margin verification against Swerling 0 Marcum Q model.</a:t>
            </a:r>
          </a:p>
        </p:txBody>
      </p:sp>
      <p:pic>
        <p:nvPicPr>
          <p:cNvPr id="13" name="Picture 12" descr="fig2_lfm_waveforms_and_spect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5920" y="3931920"/>
            <a:ext cx="8869680" cy="5068389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2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0D4FF"/>
                </a:solidFill>
              </a:defRPr>
            </a:pPr>
            <a:r>
              <a:t>TRACK 1: RADAR SIGNAL PROCESSING | SDSC SHAR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Quantitative Verification &amp; Experimental Plots</a:t>
            </a:r>
          </a:p>
        </p:txBody>
      </p:sp>
      <p:pic>
        <p:nvPicPr>
          <p:cNvPr id="5" name="Picture 4" descr="fig4_pulse_compression_snr_boo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463040"/>
            <a:ext cx="5669280" cy="3924886"/>
          </a:xfrm>
          <a:prstGeom prst="rect">
            <a:avLst/>
          </a:prstGeom>
        </p:spPr>
      </p:pic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583680" y="1463040"/>
          <a:ext cx="493776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005840"/>
                <a:gridCol w="1005840"/>
                <a:gridCol w="1097280"/>
              </a:tblGrid>
              <a:tr h="475488"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00D4FF"/>
                          </a:solidFill>
                        </a:defRPr>
                      </a:pPr>
                      <a:r>
                        <a:t>Parameter / Metric</a:t>
                      </a:r>
                    </a:p>
                  </a:txBody>
                  <a:tcPr>
                    <a:solidFill>
                      <a:srgbClr val="192D5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00D4FF"/>
                          </a:solidFill>
                        </a:defRPr>
                      </a:pPr>
                      <a:r>
                        <a:t>Pulse 1 (10 μs)</a:t>
                      </a:r>
                    </a:p>
                  </a:txBody>
                  <a:tcPr>
                    <a:solidFill>
                      <a:srgbClr val="192D5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00D4FF"/>
                          </a:solidFill>
                        </a:defRPr>
                      </a:pPr>
                      <a:r>
                        <a:t>Pulse 2 (100 μs)</a:t>
                      </a:r>
                    </a:p>
                  </a:txBody>
                  <a:tcPr>
                    <a:solidFill>
                      <a:srgbClr val="192D5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00D4FF"/>
                          </a:solidFill>
                        </a:defRPr>
                      </a:pPr>
                      <a:r>
                        <a:t>Gain / Ratio</a:t>
                      </a:r>
                    </a:p>
                  </a:txBody>
                  <a:tcPr>
                    <a:solidFill>
                      <a:srgbClr val="192D50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FFFFFF"/>
                          </a:solidFill>
                        </a:defRPr>
                      </a:pPr>
                      <a:r>
                        <a:t>Time-Bandwidth (TB)</a:t>
                      </a:r>
                    </a:p>
                  </a:txBody>
                  <a:tcPr>
                    <a:solidFill>
                      <a:srgbClr val="121C3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FFFFFF"/>
                          </a:solidFill>
                        </a:defRPr>
                      </a:pPr>
                      <a:r>
                        <a:t>40 (16.0 dB)</a:t>
                      </a:r>
                    </a:p>
                  </a:txBody>
                  <a:tcPr>
                    <a:solidFill>
                      <a:srgbClr val="121C3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FFFFFF"/>
                          </a:solidFill>
                        </a:defRPr>
                      </a:pPr>
                      <a:r>
                        <a:t>400 (26.0 dB)</a:t>
                      </a:r>
                    </a:p>
                  </a:txBody>
                  <a:tcPr>
                    <a:solidFill>
                      <a:srgbClr val="121C3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FFC107"/>
                          </a:solidFill>
                        </a:defRPr>
                      </a:pPr>
                      <a:r>
                        <a:t>+10.0 dB</a:t>
                      </a:r>
                    </a:p>
                  </a:txBody>
                  <a:tcPr>
                    <a:solidFill>
                      <a:srgbClr val="121C34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FFFFFF"/>
                          </a:solidFill>
                        </a:defRPr>
                      </a:pPr>
                      <a:r>
                        <a:t>Radiated Energy</a:t>
                      </a:r>
                    </a:p>
                  </a:txBody>
                  <a:tcPr>
                    <a:solidFill>
                      <a:srgbClr val="121C3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FFFFFF"/>
                          </a:solidFill>
                        </a:defRPr>
                      </a:pPr>
                      <a:r>
                        <a:t>2.50 J</a:t>
                      </a:r>
                    </a:p>
                  </a:txBody>
                  <a:tcPr>
                    <a:solidFill>
                      <a:srgbClr val="121C3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FFFFFF"/>
                          </a:solidFill>
                        </a:defRPr>
                      </a:pPr>
                      <a:r>
                        <a:t>25.00 J</a:t>
                      </a:r>
                    </a:p>
                  </a:txBody>
                  <a:tcPr>
                    <a:solidFill>
                      <a:srgbClr val="121C3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FFC107"/>
                          </a:solidFill>
                        </a:defRPr>
                      </a:pPr>
                      <a:r>
                        <a:t>+10.0 dB</a:t>
                      </a:r>
                    </a:p>
                  </a:txBody>
                  <a:tcPr>
                    <a:solidFill>
                      <a:srgbClr val="121C34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FFFFFF"/>
                          </a:solidFill>
                        </a:defRPr>
                      </a:pPr>
                      <a:r>
                        <a:t>Theoretical MF SNR</a:t>
                      </a:r>
                    </a:p>
                  </a:txBody>
                  <a:tcPr>
                    <a:solidFill>
                      <a:srgbClr val="121C3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FFFFFF"/>
                          </a:solidFill>
                        </a:defRPr>
                      </a:pPr>
                      <a:r>
                        <a:t>17.44 dB</a:t>
                      </a:r>
                    </a:p>
                  </a:txBody>
                  <a:tcPr>
                    <a:solidFill>
                      <a:srgbClr val="121C3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FFFFFF"/>
                          </a:solidFill>
                        </a:defRPr>
                      </a:pPr>
                      <a:r>
                        <a:t>27.44 dB</a:t>
                      </a:r>
                    </a:p>
                  </a:txBody>
                  <a:tcPr>
                    <a:solidFill>
                      <a:srgbClr val="121C3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FFC107"/>
                          </a:solidFill>
                        </a:defRPr>
                      </a:pPr>
                      <a:r>
                        <a:t>+10.00 dB</a:t>
                      </a:r>
                    </a:p>
                  </a:txBody>
                  <a:tcPr>
                    <a:solidFill>
                      <a:srgbClr val="121C34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FFFFFF"/>
                          </a:solidFill>
                        </a:defRPr>
                      </a:pPr>
                      <a:r>
                        <a:t>Simulated Peak SNR</a:t>
                      </a:r>
                    </a:p>
                  </a:txBody>
                  <a:tcPr>
                    <a:solidFill>
                      <a:srgbClr val="121C3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FFFFFF"/>
                          </a:solidFill>
                        </a:defRPr>
                      </a:pPr>
                      <a:r>
                        <a:t>17.13 dB</a:t>
                      </a:r>
                    </a:p>
                  </a:txBody>
                  <a:tcPr>
                    <a:solidFill>
                      <a:srgbClr val="121C3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FFFFFF"/>
                          </a:solidFill>
                        </a:defRPr>
                      </a:pPr>
                      <a:r>
                        <a:t>27.31 dB</a:t>
                      </a:r>
                    </a:p>
                  </a:txBody>
                  <a:tcPr>
                    <a:solidFill>
                      <a:srgbClr val="121C3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FFC107"/>
                          </a:solidFill>
                        </a:defRPr>
                      </a:pPr>
                      <a:r>
                        <a:t>+10.18 dB (Valid!)</a:t>
                      </a:r>
                    </a:p>
                  </a:txBody>
                  <a:tcPr>
                    <a:solidFill>
                      <a:srgbClr val="121C34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FFFFFF"/>
                          </a:solidFill>
                        </a:defRPr>
                      </a:pPr>
                      <a:r>
                        <a:t>Nominal Resolution</a:t>
                      </a:r>
                    </a:p>
                  </a:txBody>
                  <a:tcPr>
                    <a:solidFill>
                      <a:srgbClr val="121C3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FFFFFF"/>
                          </a:solidFill>
                        </a:defRPr>
                      </a:pPr>
                      <a:r>
                        <a:t>37.50 m</a:t>
                      </a:r>
                    </a:p>
                  </a:txBody>
                  <a:tcPr>
                    <a:solidFill>
                      <a:srgbClr val="121C3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FFFFFF"/>
                          </a:solidFill>
                        </a:defRPr>
                      </a:pPr>
                      <a:r>
                        <a:t>37.50 m</a:t>
                      </a:r>
                    </a:p>
                  </a:txBody>
                  <a:tcPr>
                    <a:solidFill>
                      <a:srgbClr val="121C3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FFC107"/>
                          </a:solidFill>
                        </a:defRPr>
                      </a:pPr>
                      <a:r>
                        <a:t>1.00x (Identical)</a:t>
                      </a:r>
                    </a:p>
                  </a:txBody>
                  <a:tcPr>
                    <a:solidFill>
                      <a:srgbClr val="121C34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FFFFFF"/>
                          </a:solidFill>
                        </a:defRPr>
                      </a:pPr>
                      <a:r>
                        <a:t>Measured -3dB Width</a:t>
                      </a:r>
                    </a:p>
                  </a:txBody>
                  <a:tcPr>
                    <a:solidFill>
                      <a:srgbClr val="121C3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FFFFFF"/>
                          </a:solidFill>
                        </a:defRPr>
                      </a:pPr>
                      <a:r>
                        <a:t>35.36 m</a:t>
                      </a:r>
                    </a:p>
                  </a:txBody>
                  <a:tcPr>
                    <a:solidFill>
                      <a:srgbClr val="121C3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FFFFFF"/>
                          </a:solidFill>
                        </a:defRPr>
                      </a:pPr>
                      <a:r>
                        <a:t>34.17 m</a:t>
                      </a:r>
                    </a:p>
                  </a:txBody>
                  <a:tcPr>
                    <a:solidFill>
                      <a:srgbClr val="121C3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FFC107"/>
                          </a:solidFill>
                        </a:defRPr>
                      </a:pPr>
                      <a:r>
                        <a:t>0.97x (Identical)</a:t>
                      </a:r>
                    </a:p>
                  </a:txBody>
                  <a:tcPr>
                    <a:solidFill>
                      <a:srgbClr val="121C34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FFFFFF"/>
                          </a:solidFill>
                        </a:defRPr>
                      </a:pPr>
                      <a:r>
                        <a:t>Required SNR (Pd=0.9)</a:t>
                      </a:r>
                    </a:p>
                  </a:txBody>
                  <a:tcPr>
                    <a:solidFill>
                      <a:srgbClr val="121C3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FFFFFF"/>
                          </a:solidFill>
                        </a:defRPr>
                      </a:pPr>
                      <a:r>
                        <a:t>13.18 dB</a:t>
                      </a:r>
                    </a:p>
                  </a:txBody>
                  <a:tcPr>
                    <a:solidFill>
                      <a:srgbClr val="121C3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FFFFFF"/>
                          </a:solidFill>
                        </a:defRPr>
                      </a:pPr>
                      <a:r>
                        <a:t>13.18 dB</a:t>
                      </a:r>
                    </a:p>
                  </a:txBody>
                  <a:tcPr>
                    <a:solidFill>
                      <a:srgbClr val="121C3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FFC107"/>
                          </a:solidFill>
                        </a:defRPr>
                      </a:pPr>
                      <a:r>
                        <a:t>Marcum Q baseline</a:t>
                      </a:r>
                    </a:p>
                  </a:txBody>
                  <a:tcPr>
                    <a:solidFill>
                      <a:srgbClr val="121C34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FFFFFF"/>
                          </a:solidFill>
                        </a:defRPr>
                      </a:pPr>
                      <a:r>
                        <a:t>Link Margin</a:t>
                      </a:r>
                    </a:p>
                  </a:txBody>
                  <a:tcPr>
                    <a:solidFill>
                      <a:srgbClr val="121C3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FFFFFF"/>
                          </a:solidFill>
                        </a:defRPr>
                      </a:pPr>
                      <a:r>
                        <a:t>+4.25 dB (Marginal)</a:t>
                      </a:r>
                    </a:p>
                  </a:txBody>
                  <a:tcPr>
                    <a:solidFill>
                      <a:srgbClr val="121C3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FFFFFF"/>
                          </a:solidFill>
                        </a:defRPr>
                      </a:pPr>
                      <a:r>
                        <a:t>+14.25 dB (Robust)</a:t>
                      </a:r>
                    </a:p>
                  </a:txBody>
                  <a:tcPr>
                    <a:solidFill>
                      <a:srgbClr val="121C3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FFC107"/>
                          </a:solidFill>
                        </a:defRPr>
                      </a:pPr>
                      <a:r>
                        <a:t>+10.00 dB Boost</a:t>
                      </a:r>
                    </a:p>
                  </a:txBody>
                  <a:tcPr>
                    <a:solidFill>
                      <a:srgbClr val="121C34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FFFFFF"/>
                          </a:solidFill>
                        </a:defRPr>
                      </a:pPr>
                      <a:r>
                        <a:t>CA-CFAR Margin</a:t>
                      </a:r>
                    </a:p>
                  </a:txBody>
                  <a:tcPr>
                    <a:solidFill>
                      <a:srgbClr val="121C3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FFFFFF"/>
                          </a:solidFill>
                        </a:defRPr>
                      </a:pPr>
                      <a:r>
                        <a:t>+6.81 dB</a:t>
                      </a:r>
                    </a:p>
                  </a:txBody>
                  <a:tcPr>
                    <a:solidFill>
                      <a:srgbClr val="121C3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FFFFFF"/>
                          </a:solidFill>
                        </a:defRPr>
                      </a:pPr>
                      <a:r>
                        <a:t>+16.99 dB</a:t>
                      </a:r>
                    </a:p>
                  </a:txBody>
                  <a:tcPr>
                    <a:solidFill>
                      <a:srgbClr val="121C3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FFC107"/>
                          </a:solidFill>
                        </a:defRPr>
                      </a:pPr>
                      <a:r>
                        <a:t>+10.18 dB Boost</a:t>
                      </a:r>
                    </a:p>
                  </a:txBody>
                  <a:tcPr>
                    <a:solidFill>
                      <a:srgbClr val="121C34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2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0D4FF"/>
                </a:solidFill>
              </a:defRPr>
            </a:pPr>
            <a:r>
              <a:t>TRACK 1: RADAR SIGNAL PROCESSING | SDSC SHAR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Insights, Bonus Experiments &amp; Conclusion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5120640" cy="4754880"/>
          </a:xfrm>
          <a:prstGeom prst="roundRect">
            <a:avLst/>
          </a:prstGeom>
          <a:solidFill>
            <a:srgbClr val="121C34"/>
          </a:solidFill>
          <a:ln>
            <a:solidFill>
              <a:srgbClr val="2337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47548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0D4FF"/>
                </a:solidFill>
              </a:defRPr>
            </a:pPr>
            <a:r>
              <a:t>Operational Insights &amp; Bonus Experiments</a:t>
            </a:r>
          </a:p>
          <a:p>
            <a:pPr>
              <a:spcBef>
                <a:spcPts val="600"/>
              </a:spcBef>
              <a:defRPr sz="1000">
                <a:solidFill>
                  <a:srgbClr val="FFFFFF"/>
                </a:solidFill>
              </a:defRPr>
            </a:pPr>
            <a:r>
              <a:t>• Core Proof Verified: Matched-filter SNR increases by +10.18 dB (theory: +10.00 dB) while range resolution remains invariant at ~35 m for both 10 μs and 100 μs chirps.</a:t>
            </a:r>
          </a:p>
          <a:p>
            <a:pPr>
              <a:spcBef>
                <a:spcPts val="600"/>
              </a:spcBef>
              <a:defRPr sz="1000">
                <a:solidFill>
                  <a:srgbClr val="FFFFFF"/>
                </a:solidFill>
              </a:defRPr>
            </a:pPr>
            <a:r>
              <a:t>• Operational Impact: At 200 km, the 100 μs pulse delivers +14.25 dB link margin and +16.99 dB CFAR margin, preventing target loss during rocket staging.</a:t>
            </a:r>
          </a:p>
          <a:p>
            <a:pPr>
              <a:spcBef>
                <a:spcPts val="600"/>
              </a:spcBef>
              <a:defRPr sz="1000">
                <a:solidFill>
                  <a:srgbClr val="FFFFFF"/>
                </a:solidFill>
              </a:defRPr>
            </a:pPr>
            <a:r>
              <a:t>• Bonus Exp 1 (Multi-Target at 200 km): Two targets separated by 50 m merge into a 15 km blob with unmodulated pulses, but are cleanly separated into 2 distinct peaks with LFM compression.</a:t>
            </a:r>
          </a:p>
          <a:p>
            <a:pPr>
              <a:spcBef>
                <a:spcPts val="600"/>
              </a:spcBef>
              <a:defRPr sz="1000">
                <a:solidFill>
                  <a:srgbClr val="FFFFFF"/>
                </a:solidFill>
              </a:defRPr>
            </a:pPr>
            <a:r>
              <a:t>• Bonus Exp 2 (Mach 5 Doppler Coupling): A 1500 m/s rocket induces -112.5 m range bias. We implemented Chirp Diversity (Up/Down chirp pairs), canceling the bias to -3 m and extracting exact velocity (1500 m/s)!</a:t>
            </a:r>
          </a:p>
        </p:txBody>
      </p:sp>
      <p:pic>
        <p:nvPicPr>
          <p:cNvPr id="7" name="Picture 6" descr="fig6_multitarget_resol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463040"/>
            <a:ext cx="5212080" cy="320743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